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6858000" cy="6858000"/>
          </a:xfrm>
          <a:prstGeom prst="ellipse">
            <a:avLst/>
          </a:prstGeom>
          <a:solidFill>
            <a:srgbClr val="E8B04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926080"/>
            <a:ext cx="5029200" cy="5029200"/>
          </a:xfrm>
          <a:prstGeom prst="ellipse">
            <a:avLst/>
          </a:prstGeom>
          <a:solidFill>
            <a:srgbClr val="7FB069">
              <a:alpha val="10000"/>
            </a:srgbClr>
          </a:solidFill>
          <a:ln/>
        </p:spPr>
      </p:sp>
      <p:pic>
        <p:nvPicPr>
          <p:cNvPr id="4" name="Image 0" descr="img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7132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25146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the phone down.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up at the table.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04672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 turns phone-free dining into something guests choose — and reward your restaurant for.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04672" y="544068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5440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partner overview for restaurants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 got quieter — and it's costing everyone.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9584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BC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3529584" cy="109728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542032"/>
            <a:ext cx="841248" cy="841248"/>
          </a:xfrm>
          <a:prstGeom prst="ellipse">
            <a:avLst/>
          </a:prstGeom>
          <a:solidFill>
            <a:srgbClr val="1B2A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7706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1188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005840" y="42245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diners is on their phone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681728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mid-meal — texting, scrolling, or filming instead of being present with the people across the table.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53128" y="2148840"/>
            <a:ext cx="3529584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BC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3128" y="2148840"/>
            <a:ext cx="3529584" cy="109728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18888" y="2542032"/>
            <a:ext cx="841248" cy="841248"/>
          </a:xfrm>
          <a:prstGeom prst="ellipse">
            <a:avLst/>
          </a:prstGeom>
          <a:solidFill>
            <a:srgbClr val="1B2A2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7706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18888" y="361188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Shorter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818888" y="42245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lingering, less spend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18888" y="4681728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distracted tables turn over without the dessert, the second round, or the reason to come back.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66176" y="2148840"/>
            <a:ext cx="3529584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BC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2148840"/>
            <a:ext cx="3529584" cy="109728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20" name="Shape 16"/>
          <p:cNvSpPr/>
          <p:nvPr/>
        </p:nvSpPr>
        <p:spPr>
          <a:xfrm>
            <a:off x="8631936" y="2542032"/>
            <a:ext cx="841248" cy="841248"/>
          </a:xfrm>
          <a:prstGeom prst="ellipse">
            <a:avLst/>
          </a:prstGeom>
          <a:solidFill>
            <a:srgbClr val="1B2A2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36" y="277063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31936" y="361188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8631936" y="42245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connection &amp; memory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631936" y="4681728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after-meal conversation — la sobremesa — is the part people miss most, and the first thing screens take.</a:t>
            </a:r>
            <a:endParaRPr lang="en-US" sz="1250" dirty="0"/>
          </a:p>
        </p:txBody>
      </p:sp>
      <p:pic>
        <p:nvPicPr>
          <p:cNvPr id="25" name="Image 3" descr="img/embl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9107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6254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265615" y="6254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Phone-Free Dining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43A3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1828800"/>
            <a:ext cx="3840480" cy="3840480"/>
          </a:xfrm>
          <a:prstGeom prst="ellipse">
            <a:avLst/>
          </a:prstGeom>
          <a:solidFill>
            <a:srgbClr val="E8B04B">
              <a:alpha val="12000"/>
            </a:srgbClr>
          </a:solidFill>
          <a:ln/>
        </p:spPr>
      </p:sp>
      <p:pic>
        <p:nvPicPr>
          <p:cNvPr id="4" name="Image 0" descr="img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2880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Meet Sobremesa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4892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free app diners download — that you light up.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777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B0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0" y="107899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Phone-free dining,</a:t>
            </a:r>
            <a:endParaRPr lang="en-US" sz="27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effortless and rewarding.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0" y="2514600"/>
            <a:ext cx="676656" cy="676656"/>
          </a:xfrm>
          <a:prstGeom prst="ellipse">
            <a:avLst/>
          </a:prstGeom>
          <a:solidFill>
            <a:srgbClr val="2E4A3E"/>
          </a:solidFill>
          <a:ln w="12700">
            <a:solidFill>
              <a:srgbClr val="34503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6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24597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Location-aware, not annoying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55080" y="2825496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app quietly knows when a guest arrives at your restaurant — no scanning, no setup at the host stand.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0" y="3794760"/>
            <a:ext cx="676656" cy="676656"/>
          </a:xfrm>
          <a:prstGeom prst="ellipse">
            <a:avLst/>
          </a:prstGeom>
          <a:solidFill>
            <a:srgbClr val="2E4A3E"/>
          </a:solidFill>
          <a:ln w="12700">
            <a:solidFill>
              <a:srgbClr val="34503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396849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3739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focused dining session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55080" y="4105656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Guests opt in to set the phone aside. Emergency calls and the camera stay available — presence, not lockdown.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0" y="5074920"/>
            <a:ext cx="676656" cy="676656"/>
          </a:xfrm>
          <a:prstGeom prst="ellipse">
            <a:avLst/>
          </a:prstGeom>
          <a:solidFill>
            <a:srgbClr val="2E4A3E"/>
          </a:solidFill>
          <a:ln w="12700">
            <a:solidFill>
              <a:srgbClr val="34503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6" y="524865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Rewards that bring them back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55080" y="5385816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Finishing a phone-free meal earns stamps you control — a free coffee, dessert, or a discount on the next visit.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Zero work at the host stand.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615184" cy="3383280"/>
          </a:xfrm>
          <a:prstGeom prst="rect">
            <a:avLst/>
          </a:prstGeom>
          <a:solidFill>
            <a:srgbClr val="1B2A24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743200"/>
            <a:ext cx="877824" cy="877824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98094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8680" y="381304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4270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5D2C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guest walks in. Sobremesa detects your restaurant's zone automatically.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00400" y="37033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29584" y="2331720"/>
            <a:ext cx="2615184" cy="3383280"/>
          </a:xfrm>
          <a:prstGeom prst="rect">
            <a:avLst/>
          </a:prstGeom>
          <a:solidFill>
            <a:srgbClr val="1B2A24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98264" y="2743200"/>
            <a:ext cx="877824" cy="877824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98094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58184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758184" y="381304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 the nudge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822192" y="4270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5D2C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friendly ping invites them to start a phone-free session for the meal.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089904" y="37033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419088" y="2331720"/>
            <a:ext cx="2615184" cy="3383280"/>
          </a:xfrm>
          <a:prstGeom prst="rect">
            <a:avLst/>
          </a:prstGeom>
          <a:solidFill>
            <a:srgbClr val="1B2A24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87768" y="2743200"/>
            <a:ext cx="877824" cy="877824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298094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47688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647688" y="381304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 present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711696" y="4270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5D2C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phone goes face-down. A gentle timer runs; emergencies stay reachable.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979408" y="37033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308592" y="2331720"/>
            <a:ext cx="2615184" cy="3383280"/>
          </a:xfrm>
          <a:prstGeom prst="rect">
            <a:avLst/>
          </a:prstGeom>
          <a:solidFill>
            <a:srgbClr val="1B2A24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77272" y="2743200"/>
            <a:ext cx="877824" cy="877824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6" y="2980944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37192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9537192" y="381304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 &amp; return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601200" y="4270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5D2C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complete the meal, earn a stamp, and get a reason to come back to you.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on the same opt-in habit loop as Forest and One Sec — guests choose presence; you give them a reason to.</a:t>
            </a:r>
            <a:endParaRPr lang="en-US" sz="1200" dirty="0"/>
          </a:p>
        </p:txBody>
      </p:sp>
      <p:pic>
        <p:nvPicPr>
          <p:cNvPr id="32" name="Image 4" descr="img/emble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77240" y="6254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265615" y="6254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Phone-Free Dining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RESTAURANTS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 is good hospitality — and good business.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9584" cy="1783080"/>
          </a:xfrm>
          <a:prstGeom prst="rect">
            <a:avLst/>
          </a:prstGeom>
          <a:solidFill>
            <a:srgbClr val="243A31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2860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 </a:t>
            </a:r>
            <a:pPr indent="0" marL="0">
              <a:buNone/>
            </a:pPr>
            <a:r>
              <a:rPr lang="en-US" sz="25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dwell time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50976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Engaged tables linger — and linger orders dessert and another round.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53128" y="2103120"/>
            <a:ext cx="3529584" cy="1783080"/>
          </a:xfrm>
          <a:prstGeom prst="rect">
            <a:avLst/>
          </a:prstGeom>
          <a:solidFill>
            <a:srgbClr val="243A31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45736" y="22860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</a:t>
            </a:r>
            <a:pPr indent="0" marL="0">
              <a:buNone/>
            </a:pPr>
            <a:r>
              <a:rPr lang="en-US" sz="25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764024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 stamps turn a one-time meal into a loyalty loop you own.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66176" y="2103120"/>
            <a:ext cx="3529584" cy="1783080"/>
          </a:xfrm>
          <a:prstGeom prst="rect">
            <a:avLst/>
          </a:prstGeom>
          <a:solidFill>
            <a:srgbClr val="243A31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58784" y="22860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</a:t>
            </a:r>
            <a:pPr indent="0" marL="0">
              <a:buNone/>
            </a:pPr>
            <a:r>
              <a:rPr lang="en-US" sz="25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77072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 the restaurant known for real conversation, not Wi-Fi and screens.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3529584" cy="1828800"/>
          </a:xfrm>
          <a:prstGeom prst="rect">
            <a:avLst/>
          </a:prstGeom>
          <a:solidFill>
            <a:srgbClr val="2E4A3E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4434840"/>
            <a:ext cx="603504" cy="603504"/>
          </a:xfrm>
          <a:prstGeom prst="ellipse">
            <a:avLst/>
          </a:prstGeom>
          <a:solidFill>
            <a:srgbClr val="1B2A24"/>
          </a:solidFill>
          <a:ln w="12700">
            <a:solidFill>
              <a:srgbClr val="34503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4590288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64208" y="44805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hardware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50976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pouches, no lockboxes, nothing to hand out or collect. It runs on the guest's phone.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53128" y="4160520"/>
            <a:ext cx="3529584" cy="1828800"/>
          </a:xfrm>
          <a:prstGeom prst="rect">
            <a:avLst/>
          </a:prstGeom>
          <a:solidFill>
            <a:srgbClr val="2E4A3E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434840"/>
            <a:ext cx="603504" cy="603504"/>
          </a:xfrm>
          <a:prstGeom prst="ellipse">
            <a:avLst/>
          </a:prstGeom>
          <a:solidFill>
            <a:srgbClr val="1B2A24"/>
          </a:solidFill>
          <a:ln w="12700">
            <a:solidFill>
              <a:srgbClr val="34503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459028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77256" y="44805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own the rewards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764024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the offer and the goal time. Adjust anytime from a simple partner dashboard.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66176" y="4160520"/>
            <a:ext cx="3529584" cy="1828800"/>
          </a:xfrm>
          <a:prstGeom prst="rect">
            <a:avLst/>
          </a:prstGeom>
          <a:solidFill>
            <a:srgbClr val="2E4A3E"/>
          </a:solidFill>
          <a:ln w="12700">
            <a:solidFill>
              <a:srgbClr val="3450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558784" y="4434840"/>
            <a:ext cx="603504" cy="603504"/>
          </a:xfrm>
          <a:prstGeom prst="ellipse">
            <a:avLst/>
          </a:prstGeom>
          <a:solidFill>
            <a:srgbClr val="1B2A24"/>
          </a:solidFill>
          <a:ln w="12700">
            <a:solidFill>
              <a:srgbClr val="34503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459028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290304" y="44805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Better reviews &amp; vibe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8577072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Quieter screens, warmer rooms — the atmosphere guests remember and post about.</a:t>
            </a:r>
            <a:endParaRPr lang="en-US" sz="1200" dirty="0"/>
          </a:p>
        </p:txBody>
      </p:sp>
      <p:pic>
        <p:nvPicPr>
          <p:cNvPr id="28" name="Image 3" descr="img/embl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9107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77240" y="6254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265615" y="6254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Phone-Free Dining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B2A24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914400"/>
            <a:ext cx="2743200" cy="2743200"/>
          </a:xfrm>
          <a:prstGeom prst="ellipse">
            <a:avLst/>
          </a:prstGeom>
          <a:solidFill>
            <a:srgbClr val="E8B04B">
              <a:alpha val="12000"/>
            </a:srgbClr>
          </a:solidFill>
          <a:ln/>
        </p:spPr>
      </p:sp>
      <p:pic>
        <p:nvPicPr>
          <p:cNvPr id="4" name="Image 0" descr="img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01168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2440" y="41605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conversation is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course.”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DINERS LOVE IT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804672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Diners come for the food.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come back for the feeling.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658368" cy="658368"/>
          </a:xfrm>
          <a:prstGeom prst="ellipse">
            <a:avLst/>
          </a:prstGeom>
          <a:solidFill>
            <a:srgbClr val="1B2A2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706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94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conversation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29443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undivided attention of the people they came to eat with.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776472"/>
            <a:ext cx="658368" cy="658368"/>
          </a:xfrm>
          <a:prstGeom prst="ellipse">
            <a:avLst/>
          </a:prstGeom>
          <a:solidFill>
            <a:srgbClr val="1B2A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4106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7398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Safe, never trapped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3040" y="4114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Emergency contacts and the camera stay one tap away the whole time.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946904"/>
            <a:ext cx="658368" cy="658368"/>
          </a:xfrm>
          <a:prstGeom prst="ellipse">
            <a:avLst/>
          </a:prstGeom>
          <a:solidFill>
            <a:srgbClr val="1B2A2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11149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9103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Rewards for showing up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63040" y="52852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Stamps, perks, and freebies just for being present at the table.</a:t>
            </a:r>
            <a:endParaRPr lang="en-US" sz="1300" dirty="0"/>
          </a:p>
        </p:txBody>
      </p:sp>
      <p:pic>
        <p:nvPicPr>
          <p:cNvPr id="20" name="Image 4" descr="img/emble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6254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265615" y="6254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Phone-Free Dining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743200"/>
            <a:ext cx="6400800" cy="6400800"/>
          </a:xfrm>
          <a:prstGeom prst="ellipse">
            <a:avLst/>
          </a:prstGeom>
          <a:solidFill>
            <a:srgbClr val="7FB06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2286000"/>
            <a:ext cx="6858000" cy="6858000"/>
          </a:xfrm>
          <a:prstGeom prst="ellipse">
            <a:avLst/>
          </a:prstGeom>
          <a:solidFill>
            <a:srgbClr val="E8B04B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B0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CHANGE WE'RE MAKING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your restaurant the place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actually look up.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333756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9B5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 is bringing back la sobremesa — the lingering, screen-free time at the table. Partner restaurants are where it starts. Reclaim the room, reward presence, and turn first-time guests into regulars.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3200400" cy="603504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48920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Become a partner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4892040"/>
            <a:ext cx="3291840" cy="603504"/>
          </a:xfrm>
          <a:prstGeom prst="roundRect">
            <a:avLst>
              <a:gd name="adj" fmla="val 50000"/>
            </a:avLst>
          </a:prstGeom>
          <a:ln w="19050">
            <a:solidFill>
              <a:srgbClr val="345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48920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hello@sobremesa.app</a:t>
            </a:r>
            <a:endParaRPr lang="en-US" sz="1400" dirty="0"/>
          </a:p>
        </p:txBody>
      </p:sp>
      <p:pic>
        <p:nvPicPr>
          <p:cNvPr id="11" name="Image 0" descr="img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8978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5897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sobremesa</a:t>
            </a:r>
            <a:pPr indent="0" marL="0">
              <a:buNone/>
            </a:pPr>
            <a:r>
              <a:rPr lang="en-US" sz="1500" b="1" dirty="0">
                <a:solidFill>
                  <a:srgbClr val="C891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Be here for the meal.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Sobremesa — Phone-Free Dining for Restaurants</dc:title>
  <dc:subject>PptxGenJS Presentation</dc:subject>
  <dc:creator>Sobremesa</dc:creator>
  <cp:lastModifiedBy>Sobremesa</cp:lastModifiedBy>
  <cp:revision>1</cp:revision>
  <dcterms:created xsi:type="dcterms:W3CDTF">2026-06-20T01:33:53Z</dcterms:created>
  <dcterms:modified xsi:type="dcterms:W3CDTF">2026-06-20T01:33:53Z</dcterms:modified>
</cp:coreProperties>
</file>